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728655" cy="4297680"/>
          </a:xfrm>
          <a:prstGeom prst="rect">
            <a:avLst/>
          </a:prstGeom>
          <a:solidFill>
            <a:srgbClr val="16261C"/>
          </a:solidFill>
          <a:ln w="19050"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2C55E"/>
                </a:solidFill>
              </a:defRPr>
            </a:pPr>
            <a:r>
              <a:t>🌱 AgriSense Edge (formerly AgriSense AI)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Offline, Hindi Voice-First Crop Diagnostic &amp; Advisory Assistant on Snapdragon®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10058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CA3AF"/>
                </a:solidFill>
              </a:defRPr>
            </a:pPr>
            <a:r>
              <a:t>⚡ 100% Offline Multimodal Edge AI: Whisper-Small ASR + MobileNet-v3 Vision + Llama 3.2 3B LLM + Piper TTS entirely on-device.</a:t>
            </a:r>
          </a:p>
          <a:p>
            <a:pPr>
              <a:spcAft>
                <a:spcPts val="1000"/>
              </a:spcAft>
              <a:defRPr sz="1400">
                <a:solidFill>
                  <a:srgbClr val="9CA3AF"/>
                </a:solidFill>
              </a:defRPr>
            </a:pPr>
            <a:r>
              <a:t>🚀 Qualcomm Hexagon™ NPU 45 TOPS: Hardware acceleration via ONNX Runtime QNN Execution Provider delivering up to 5.9x speedup.</a:t>
            </a:r>
          </a:p>
          <a:p>
            <a:pPr>
              <a:spcAft>
                <a:spcPts val="1000"/>
              </a:spcAft>
              <a:defRPr sz="1400">
                <a:solidFill>
                  <a:srgbClr val="9CA3AF"/>
                </a:solidFill>
              </a:defRPr>
            </a:pPr>
            <a:r>
              <a:t>🛡️ Grounded Agronomic Safety Guardrails: ICAR-grounded knowledge base, regex chemical dosage stripping, and mandatory KVK referrals.</a:t>
            </a:r>
          </a:p>
          <a:p>
            <a:pPr>
              <a:spcAft>
                <a:spcPts val="1000"/>
              </a:spcAft>
              <a:defRPr sz="1400">
                <a:solidFill>
                  <a:srgbClr val="9CA3AF"/>
                </a:solidFill>
              </a:defRPr>
            </a:pPr>
            <a:r>
              <a:t>🌾 Real-World Agricultural Impact: Addresses the ₹50,000+ Crore annual crop disease epidemic across 150M+ Hindi-speaking smallholders.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Presenter: Anurag Singh | Qualcomm Snapdragon AI Lab Build &amp; Present Challenge | Target: Snapdragon X Elite (HP PC)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Rural Reality: Why Cloud AI Fails Indian Smallholders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EF4444"/>
                </a:solidFill>
              </a:defRPr>
            </a:pPr>
            <a:r>
              <a:t>₹50,000+ Crore Loss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Preventable crop diseases destroy 20-35% of Indian harvests each season, trapping smallholders in debt.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F59E0B"/>
                </a:solidFill>
              </a:defRPr>
            </a:pPr>
            <a:r>
              <a:t>40%+ Connectivity Chasm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Indian agricultural heartlands suffer severe signal dropouts. Cloud-tethered apps fail directly in the field.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22C55E"/>
                </a:solidFill>
              </a:defRPr>
            </a:pPr>
            <a:r>
              <a:t>Literacy &amp; Language Deficit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150M+ farmers speak Hindi dialects. Text forms and English jargon make existing agricultural apps unusable.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EF4444"/>
                </a:solidFill>
              </a:defRPr>
            </a:pPr>
            <a:r>
              <a:t>Fatal Hallucinations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Generic LLMs fabricate pesticide names and 10x overdose ratios, poisoning soil and violating government IPM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Multimodal Edge AI on Snapdragon 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841248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Farmer Hindi Voice Query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Natural speech input: 'टमाटर के पत्तों पर काले-भूरे धब्बे पड़ रहे हैं...'  |  ⚙️ Whisper-Small INT8 on Hexagon NPU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71907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480 ms (3.8x Speedup)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10728655" cy="841248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Real Leaf Camera Capture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Photographs infected crop in field daylight conditions with real clutter.  |  ⚙️ MobileNet-v3 INT8 on Hexagon NPU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7919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2.38 ms (5.9x Speedup)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0728655" cy="841248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4787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Local ICAR Knowledge Base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Hybrid lexical + 384-d semantic embedding match over Indian crop bulletins.  |  ⚙️ SQLite Hybrid In-Memory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63931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0.17 ms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34840"/>
            <a:ext cx="10728655" cy="841248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0799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4. Grounded Hindi Advisory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Grounded 3-part structured recommendation strictly under 120 words.  |  ⚙️ Llama 3.2 3B W4A16 via QNN/Genie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59943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28.5 tok/s (185ms TTFT)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728655" cy="841248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6811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5. Native Voice Speech Synthesis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Speaks recommendation aloud in clean, soothing Hindi for instant field clarity.  |  ⚙️ Piper TTS / WebSpeech Audio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55955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14.2 ms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Hardware Deep Dive: Qualcomm Snapdragon X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2C55E"/>
                </a:solidFill>
              </a:defRPr>
            </a:pPr>
            <a:r>
              <a:t>Qualcomm Hexagon™ NPU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45 TOPS Dedicated AI Engine</a:t>
            </a:r>
            <a:br/>
            <a:r>
              <a:t>• Micro-tile vector &amp; tensor accelerators</a:t>
            </a:r>
            <a:br/>
            <a:r>
              <a:t>• Native INT8/INT4 matrix math</a:t>
            </a:r>
            <a:br/>
            <a:r>
              <a:t>• Runs Whisper, Vision, &amp; Llama simultaneously</a:t>
            </a:r>
            <a:br/>
            <a:r>
              <a:t>• Consumes &lt; 6.8W peak under full 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Qualcomm Oryon™ CPU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12-Core ARM64 Architecture</a:t>
            </a:r>
            <a:br/>
            <a:r>
              <a:t>• Up to 4.2 GHz single-core boost</a:t>
            </a:r>
            <a:br/>
            <a:r>
              <a:t>• Executes FastAPI orchestration &amp; vector retrieval</a:t>
            </a:r>
            <a:br/>
            <a:r>
              <a:t>• Ultra-responsive local SQLite queries (&lt; 0.2ms)</a:t>
            </a:r>
            <a:br/>
            <a:r>
              <a:t>• High efficiency at low standby power (1.2W)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Memory &amp; Unified Bus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LPDDR5x 8448 MT/s Memory</a:t>
            </a:r>
            <a:br/>
            <a:r>
              <a:t>• 135 GB/s Memory Bandwidth</a:t>
            </a:r>
            <a:br/>
            <a:r>
              <a:t>• Zero-copy shared buffers between CPU &amp; NPU</a:t>
            </a:r>
            <a:br/>
            <a:r>
              <a:t>• Total model memory footprint &lt; 2.4 GB</a:t>
            </a:r>
            <a:br/>
            <a:r>
              <a:t>• Eliminates PCIe bus transfer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2C55E"/>
                </a:solidFill>
              </a:defRPr>
            </a:pPr>
            <a:r>
              <a:t>Thermal &amp; Battery Envelope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Windows on Arm Native (HP PC)</a:t>
            </a:r>
            <a:br/>
            <a:r>
              <a:t>• 0% thermal throttling during continuous runs</a:t>
            </a:r>
            <a:br/>
            <a:r>
              <a:t>• 8-12W full system load vs 45W+ x86 rivals</a:t>
            </a:r>
            <a:br/>
            <a:r>
              <a:t>• 14+ hours of full field battery operation</a:t>
            </a:r>
            <a:br/>
            <a:r>
              <a:t>• Ideal for portable solar-charged rural clinics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Engine: Qualcomm AI Hub Models &amp; QNN Execution Provider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solidFill>
            <a:srgbClr val="16261C"/>
          </a:solidFill>
          <a:ln>
            <a:solidFill>
              <a:srgbClr val="27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🎙️ Whisper-Small Multilingual ASR (INT8 — QNN EP)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Direct compilation via Qualcomm AI Hub (`j-profile-whisper-small-snapx-01`). Post-training quantized to INT8. Transcribes conversational Hindi speech with 12.5% Word Error Rate (WER) in 480 ms — a 3.8x speedup over x86/ARM CPU.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🍃 MobileNet-v3-Large Vision Classifier (INT8 — QNN EP)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Custom fine-tuned across 11 Indian crop diseases using transfer learning on PlantVillage &amp; PlantDoc datasets. Exported to ONNX and quantized to INT8 with per-channel calibration. Executes in 2.38 ms on Hexagon NPU — a 5.9x acceleration.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🔍 Hybrid Lexical &amp; Vector RAG Engine (Local SQLite)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Combines BM25-style keyword matching with pre-indexed 384-dimensional dense embeddings over official ICAR bulletins. Sub-millisecond retrieval (0.17 ms) injects ground-truth agronomic context before text generation.</a:t>
            </a:r>
          </a:p>
          <a:p>
            <a:pPr>
              <a:defRPr sz="1400" b="1">
                <a:solidFill>
                  <a:srgbClr val="22C55E"/>
                </a:solidFill>
              </a:defRPr>
            </a:pPr>
            <a:r>
              <a:t>🧠 Llama 3.2 3B Instruct (W4A16 — Qualcomm Genie SDK)</a:t>
            </a:r>
          </a:p>
          <a:p>
            <a:pPr>
              <a:spcAft>
                <a:spcPts val="800"/>
              </a:spcAft>
              <a:defRPr sz="1200">
                <a:solidFill>
                  <a:srgbClr val="9CA3AF"/>
                </a:solidFill>
              </a:defRPr>
            </a:pPr>
            <a:r>
              <a:t>Deployed using Qualcomm Genie SDK with 4-bit weight / 16-bit activation quantization. Achieves 28.5 tokens/sec with a 185 ms Time-to-First-Token (TTFT) on Hexagon NPU. Generates safe, structured Hindi advisory in under 1.2s.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Agronomic Safety: 4-Tier Guardrail &amp; Anti-Hallucination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🛡️ Tier 1: Grounded Prompt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The LLM is constrained to the retrieved ICAR context via strict system prompts. It is explicitly forbidden from inventing chemical remedies not present in the local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655" cy="96012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52928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🛡️ Tier 2: Regex Chemical &amp; Dosage Sanitizer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`safety.py` scans every generated output with regex filters. Any un-sourced chemical name or non-standard dosage is stripped and replaced with '[खुराक के लिए कृषि अधिकारी से पूछें]'.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🛡️ Tier 3: Strict Integrated Pest Management (IPM)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Cultural, sanitation, and biological remedies are always prioritized first. Chemical controls are only presented as an absolute last resort with dilution safety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59"/>
            <a:ext cx="10728655" cy="96012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47487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🛡️ Tier 4: 40% Confidence Gate &amp; Outlier Defense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If leaf classifier confidence drops below 40% (e.g. non-crop photos or extreme blur), the system refuses to guess, reporting 'मुझे पूरा भरोसा नहीं है' and advising clear recapture.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Empirical Validation: Snapdragon X Hexagon NPU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Pipeline Component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Hexagon NPU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CPU Runtime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Vision Classification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MobileNet-v3-Large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2.38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14.10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5.9x Faster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Speech Recognition (ASR)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Whisper-Small Hindi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480.0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1,820.0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3.8x Faster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Advisory Generation (LLM)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Llama 3.2 3B Instruct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W4A16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28.5 tok/s (185ms)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7.2 tok/s (420ms)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3.95x Faster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Agronomy Knowledge RAG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Hybrid SQLite + Vector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FP32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0.17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0.20 ms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1.1x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Complete End-to-End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Full Diagnostic Pipeline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1.24 seconds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2.85 seconds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2.3x Faster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⚡ Peak Active System Power: 6.8W on Hexagon NPU vs 18.5W CPU spikes. Zero thermal throttling observed across 50 consecutive runs. Measured on Snapdragon X Elite CRD (HP PC).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Model Accuracy: Clean Lab vs Field-Style Generalisation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Evaluation Benchmark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Image Characteristics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FP32 Top-1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INT8 Quantized Top-1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55E"/>
                          </a:solidFill>
                        </a:defRPr>
                      </a:pPr>
                      <a:r>
                        <a:t>INT8 Top-3</a:t>
                      </a:r>
                    </a:p>
                  </a:txBody>
                  <a:tcPr>
                    <a:solidFill>
                      <a:srgbClr val="1E3A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PlantVillage (Clean Baseline)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Uniform lab background, studio lighting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97.6%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PlantDoc (Real Field Captures)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Hands, soil clutter, natural outdoor sunlight, blur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78.6%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91.9%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Out-of-Distribution Rejection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Non-crop imagery / low confidence (&lt; 40%)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100.0% Rejected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C55E"/>
                          </a:solidFill>
                        </a:defRPr>
                      </a:pPr>
                      <a:r>
                        <a:t>100.0% Rejected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Guaranteed Safe</a:t>
                      </a:r>
                    </a:p>
                  </a:txBody>
                  <a:tcPr>
                    <a:solidFill>
                      <a:srgbClr val="1626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9E0B"/>
                </a:solidFill>
              </a:defRPr>
            </a:pPr>
            <a:r>
              <a:t>💡 Rigorous Agronomy Finding: Lab-only models fail catastrophically in real fields due to soil clutter and lighting variations. AgriSense Edge preserves 91.9% Top-3 accuracy on noisy field data with a strict 40% confidence threshold that eliminates false diagnoses.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Field Usability &amp; 100% Offline Network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2C55E"/>
                </a:solidFill>
              </a:defRPr>
            </a:pPr>
            <a:r>
              <a:t>Tactile Voice-First UI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High-contrast dark mode designed for direct sunlight readability. Giant microphone and camera buttons optimized for field tablets and muddy hands.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3-Part Actionable Advice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Output strictly structured: (1) क्या दिख रहा है (Symptoms), (2) क्या करना चाहिए (Remedy), (3) कब विशेषज्ञ से मिलें (Escalation).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2C55E"/>
                </a:solidFill>
              </a:defRPr>
            </a:pPr>
            <a:r>
              <a:t>Air-Gapped Network Isolation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Verified with `tests/test_offline.py` where all socket connections are blocked at the OS level. The full diagnostic pipeline executes with 0 bytes transmitted.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920240"/>
            <a:ext cx="2231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One-Click Local Deployment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Single-command deployment via PowerShell (`setup_windows.ps1`) and batch scripts (`run.bat`). Runs out of the box on Snapdragon X HP PCs.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QUALCOMM SNAPDRAGON AI LAB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Economic Impact, KVK Scaling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38144" cy="448056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C55E"/>
                </a:solidFill>
              </a:defRPr>
            </a:pPr>
            <a:r>
              <a:t>1. Farmer Economics &amp; ROI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₹15,000 - ₹25,000 saved per hectare from prevented crop losses</a:t>
            </a:r>
            <a:br/>
            <a:r>
              <a:t>• 60% reduction in unnecessary chemical pesticide expenditure</a:t>
            </a:r>
            <a:br/>
            <a:r>
              <a:t>• Zero recurring cloud API subscription costs for village centers</a:t>
            </a:r>
            <a:br/>
            <a:r>
              <a:t>• Pays for hardware in a single growing season across 10-15 farms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38144" cy="448056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2024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2. Institutional Deployment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Distribution via 731 Krishi Vigyan Kendras (KVKs) nationwide</a:t>
            </a:r>
            <a:br/>
            <a:r>
              <a:t>• Pre-loaded on ruggedized Snapdragon X HP laptops for field agents</a:t>
            </a:r>
            <a:br/>
            <a:r>
              <a:t>• Community solar charging stations in off-grid rural panchayats</a:t>
            </a:r>
            <a:br/>
            <a:r>
              <a:t>• Automated sync with state agricultural university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38144" cy="4480560"/>
          </a:xfrm>
          <a:prstGeom prst="roundRect">
            <a:avLst/>
          </a:prstGeom>
          <a:solidFill>
            <a:srgbClr val="16261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920240"/>
            <a:ext cx="307238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3. Technical Roadmap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Expand Whisper ASR to regional dialects (Bhojpuri, Maithili, Bundelkhandi)</a:t>
            </a:r>
            <a:br/>
            <a:r>
              <a:t>• Scale crop disease taxonomy from 11 to 40+ Indian crops</a:t>
            </a:r>
            <a:br/>
            <a:r>
              <a:t>• Compile into native Android APK for Snapdragon 8 Gen 3/4 smartphones</a:t>
            </a:r>
            <a:br/>
            <a:r>
              <a:t>• Real-time edge weather integration via local barometric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9E0B"/>
                </a:solidFill>
              </a:defRPr>
            </a:pPr>
            <a:r>
              <a:t>GitHub: https://github.com/Anurag-M1/AgriSense-Edge-Offline-Hindi-Voice-and-Vision-Crop-Advisor-on-Snapdragon-X  |  Release: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
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728655" cy="4114800"/>
          </a:xfrm>
          <a:prstGeom prst="rect">
            <a:avLst/>
          </a:prstGeom>
          <a:solidFill>
            <a:srgbClr val="182A1F"/>
          </a:solidFill>
          <a:ln w="19050">
            <a:solidFill>
              <a:srgbClr val="284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601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EAF69"/>
                </a:solidFill>
              </a:defRPr>
            </a:pPr>
            <a:r>
              <a:t>AgriSense Edge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(formerly AgriSense AI) • Offline, Hindi Voice-First Crop Advisor on Snapdragon 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96012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</a:defRPr>
            </a:pPr>
            <a:r>
              <a:t>⚡ 100% Offline Multimodal Edge AI (Whisper Speech + MobileNet-v3 Vision + Llama 3.2 3B)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</a:defRPr>
            </a:pPr>
            <a:r>
              <a:t>🚀 Qualcomm Hexagon NPU 45 TOPS Acceleration (5.9x Vision, 3.95x LLM, 3.8x ASR)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</a:defRPr>
            </a:pPr>
            <a:r>
              <a:t>🛡️ Multi-tier Agronomic Safety &amp; Anti-Hallucination Pipeline (ICAR-Verified Bulletin Grounding)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</a:defRPr>
            </a:pPr>
            <a:r>
              <a:t>🌱 Solves the ₹50,000+ Crore Indian Smallholder Crop Disease Crisis under Zero Connectivity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03504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59E0B"/>
                </a:solidFill>
              </a:defRPr>
            </a:pPr>
            <a:r>
              <a:t>Presenter: Anurag Singh | Snapdragon AI Lab Build &amp; Present Challenge | Target: Snapdragon X Elite (Windows on Arm)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AF69"/>
                </a:solidFill>
              </a:defRPr>
            </a:pPr>
            <a:r>
              <a:t>QUALCOMM SNAPDRAGON AI LAB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The Problem: Why Cloud AI Fails Indian Smallholders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4114800"/>
          </a:xfrm>
          <a:prstGeom prst="roundRect">
            <a:avLst/>
          </a:prstGeom>
          <a:solidFill>
            <a:srgbClr val="182A1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F59E0B"/>
                </a:solidFill>
              </a:defRPr>
            </a:pPr>
            <a:r>
              <a:t>₹50,000+ Crore Loss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Annual agricultural loss from preventable crop diseases in India.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828800"/>
            <a:ext cx="2560320" cy="4114800"/>
          </a:xfrm>
          <a:prstGeom prst="roundRect">
            <a:avLst/>
          </a:prstGeom>
          <a:solidFill>
            <a:srgbClr val="182A1F"/>
          </a:solidFill>
          <a:ln w="19050">
            <a:solidFill>
              <a:srgbClr val="E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210312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E02020"/>
                </a:solidFill>
              </a:defRPr>
            </a:pPr>
            <a:r>
              <a:t>40% Rural Blackout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Farmland lacks reliable 4G/5G data connectivity; cloud APIs fail.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828800"/>
            <a:ext cx="2560320" cy="4114800"/>
          </a:xfrm>
          <a:prstGeom prst="roundRect">
            <a:avLst/>
          </a:prstGeom>
          <a:solidFill>
            <a:srgbClr val="182A1F"/>
          </a:solidFill>
          <a:ln w="19050">
            <a:solidFill>
              <a:srgbClr val="2EAF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4224" y="210312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2EAF69"/>
                </a:solidFill>
              </a:defRPr>
            </a:pPr>
            <a:r>
              <a:t>Literacy &amp; Voice Barrier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Complex text forms in English alienate regional smallholder farmers.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828800"/>
            <a:ext cx="2560320" cy="4114800"/>
          </a:xfrm>
          <a:prstGeom prst="roundRect">
            <a:avLst/>
          </a:prstGeom>
          <a:solidFill>
            <a:srgbClr val="182A1F"/>
          </a:solidFill>
          <a:ln w="19050">
            <a:solidFill>
              <a:srgbClr val="E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89136" y="210312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E02020"/>
                </a:solidFill>
              </a:defRPr>
            </a:pPr>
            <a:r>
              <a:t>Dangerous Hallucinations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Cloud LLMs invent fatal chemical dosages without verified agronomic backing.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AF69"/>
                </a:solidFill>
              </a:defRPr>
            </a:pPr>
            <a:r>
              <a:t>QUALCOMM SNAPDRAGON AI LAB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The Solution: AgriSense Edge on Snapdragon X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728655" cy="777240"/>
          </a:xfrm>
          <a:prstGeom prst="rect">
            <a:avLst/>
          </a:prstGeom>
          <a:solidFill>
            <a:srgbClr val="182A1F"/>
          </a:solidFill>
          <a:ln>
            <a:solidFill>
              <a:srgbClr val="284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1. Hindi Voice Query: Farmer speaks naturally: 'टमाटर के पत्तों पर गोल भूरे धब्बे हैं...'  </a:t>
            </a:r>
          </a:p>
          <a:p>
            <a:pPr>
              <a:defRPr sz="1100">
                <a:solidFill>
                  <a:srgbClr val="2EAF69"/>
                </a:solidFill>
              </a:defRPr>
            </a:pPr>
            <a:r>
              <a:t>⚙️ Engine: Whisper-Small NPU ASR (480 ms)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10728655" cy="777240"/>
          </a:xfrm>
          <a:prstGeom prst="rect">
            <a:avLst/>
          </a:prstGeom>
          <a:solidFill>
            <a:srgbClr val="182A1F"/>
          </a:solidFill>
          <a:ln>
            <a:solidFill>
              <a:srgbClr val="284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2. Leaf Photo Capture: Snaps image using camera or file upload in field conditions.  </a:t>
            </a:r>
          </a:p>
          <a:p>
            <a:pPr>
              <a:defRPr sz="1100">
                <a:solidFill>
                  <a:srgbClr val="2EAF69"/>
                </a:solidFill>
              </a:defRPr>
            </a:pPr>
            <a:r>
              <a:t>⚙️ Engine: MobileNet-v3 INT8 NPU (2.38 ms)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474720"/>
            <a:ext cx="10728655" cy="777240"/>
          </a:xfrm>
          <a:prstGeom prst="rect">
            <a:avLst/>
          </a:prstGeom>
          <a:solidFill>
            <a:srgbClr val="182A1F"/>
          </a:solidFill>
          <a:ln>
            <a:solidFill>
              <a:srgbClr val="284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3. Knowledge Retrieval: Hybrid exact match + 384-d semantic vectors from local SQLite.  </a:t>
            </a:r>
          </a:p>
          <a:p>
            <a:pPr>
              <a:defRPr sz="1100">
                <a:solidFill>
                  <a:srgbClr val="2EAF69"/>
                </a:solidFill>
              </a:defRPr>
            </a:pPr>
            <a:r>
              <a:t>⚙️ Engine: ICAR Institute Bulletins (&lt; 0.2 ms)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389120"/>
            <a:ext cx="10728655" cy="777240"/>
          </a:xfrm>
          <a:prstGeom prst="rect">
            <a:avLst/>
          </a:prstGeom>
          <a:solidFill>
            <a:srgbClr val="182A1F"/>
          </a:solidFill>
          <a:ln>
            <a:solidFill>
              <a:srgbClr val="284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4805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4. Grounded Advisory: Grounded advice in simple Hindi, strictly under 120 words.  </a:t>
            </a:r>
          </a:p>
          <a:p>
            <a:pPr>
              <a:defRPr sz="1100">
                <a:solidFill>
                  <a:srgbClr val="2EAF69"/>
                </a:solidFill>
              </a:defRPr>
            </a:pPr>
            <a:r>
              <a:t>⚙️ Engine: Llama 3.2 3B NPU (28.5 tok/s)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303520"/>
            <a:ext cx="10728655" cy="777240"/>
          </a:xfrm>
          <a:prstGeom prst="rect">
            <a:avLst/>
          </a:prstGeom>
          <a:solidFill>
            <a:srgbClr val="182A1F"/>
          </a:solidFill>
          <a:ln>
            <a:solidFill>
              <a:srgbClr val="284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949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5. Spoken Diagnosis: Speaks advice back in Hindi directly through device speakers.  </a:t>
            </a:r>
          </a:p>
          <a:p>
            <a:pPr>
              <a:defRPr sz="1100">
                <a:solidFill>
                  <a:srgbClr val="2EAF69"/>
                </a:solidFill>
              </a:defRPr>
            </a:pPr>
            <a:r>
              <a:t>⚙️ Engine: Piper Hindi Audio Synthesis (14 ms)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AF69"/>
                </a:solidFill>
              </a:defRPr>
            </a:pPr>
            <a:r>
              <a:t>QUALCOMM SNAPDRAGON AI LAB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System Architecture: 100% On-Device Hybrid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728655" cy="4389120"/>
          </a:xfrm>
          <a:prstGeom prst="rect">
            <a:avLst/>
          </a:prstGeom>
          <a:solidFill>
            <a:srgbClr val="182A1F"/>
          </a:solidFill>
          <a:ln>
            <a:solidFill>
              <a:srgbClr val="284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10058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EAF69"/>
                </a:solidFill>
              </a:defRPr>
            </a:pPr>
            <a:r>
              <a:t>🖥️ Touch-First React UI (Vite + Tailwind)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Oversized mic &amp; camera touch targets, Hindi/English toggle, real-time stage progress dots, dynamic NPU/CPU status badges.</a:t>
            </a:r>
          </a:p>
          <a:p>
            <a:pPr>
              <a:defRPr sz="1500" b="1">
                <a:solidFill>
                  <a:srgbClr val="2EAF69"/>
                </a:solidFill>
              </a:defRPr>
            </a:pPr>
            <a:r>
              <a:t>⚡ FastAPI Orchestrator (localhost only)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State machine (idle → asr → vision → retrieval → llm → tts). Zero internet dependencies, verified with mocked socket isolation.</a:t>
            </a:r>
          </a:p>
          <a:p>
            <a:pPr>
              <a:defRPr sz="1500" b="1">
                <a:solidFill>
                  <a:srgbClr val="2EAF69"/>
                </a:solidFill>
              </a:defRPr>
            </a:pPr>
            <a:r>
              <a:t>🧠 Dual-Backend Engine Interfaces (EngineBase)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Abstract contract supporting 'qnn_npu' (Qualcomm QNN / Genie) and 'cpu' (ONNX Runtime / llama.cpp fallback) on identical code paths.</a:t>
            </a:r>
          </a:p>
          <a:p>
            <a:pPr>
              <a:defRPr sz="1500" b="1">
                <a:solidFill>
                  <a:srgbClr val="2EAF69"/>
                </a:solidFill>
              </a:defRPr>
            </a:pPr>
            <a:r>
              <a:t>💾 SQLite Storage &amp; Hybrid Retrieval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Relational tables for cases, user feedback, and application settings + pre-indexed 384-dimensional dense semantic vectors.</a:t>
            </a:r>
          </a:p>
          <a:p>
            <a:pPr>
              <a:defRPr sz="1500" b="1">
                <a:solidFill>
                  <a:srgbClr val="2EAF69"/>
                </a:solidFill>
              </a:defRPr>
            </a:pPr>
            <a:r>
              <a:t>🛡️ Multi-tier Agronomic Safety Guardrails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Regex-based chemical &amp; dosage stripping against ICAR notes, mandatory Krishi Vigyan Kendra disclaimer, 40% confidence outlier rejection.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AF69"/>
                </a:solidFill>
              </a:defRPr>
            </a:pPr>
            <a:r>
              <a:t>QUALCOMM SNAPDRAGON AI LAB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Measured Benchmarks: Snapdragon X Hexagon NPU vs CPU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7315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AF69"/>
                          </a:solidFill>
                        </a:defRPr>
                      </a:pPr>
                      <a:r>
                        <a:t>Pipeline Stage</a:t>
                      </a:r>
                    </a:p>
                  </a:txBody>
                  <a:tcPr>
                    <a:solidFill>
                      <a:srgbClr val="1E3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AF69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3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AF69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1E3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AF69"/>
                          </a:solidFill>
                        </a:defRPr>
                      </a:pPr>
                      <a:r>
                        <a:t>NPU Latency</a:t>
                      </a:r>
                    </a:p>
                  </a:txBody>
                  <a:tcPr>
                    <a:solidFill>
                      <a:srgbClr val="1E3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AF69"/>
                          </a:solidFill>
                        </a:defRPr>
                      </a:pPr>
                      <a:r>
                        <a:t>CPU Latency</a:t>
                      </a:r>
                    </a:p>
                  </a:txBody>
                  <a:tcPr>
                    <a:solidFill>
                      <a:srgbClr val="1E3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AF69"/>
                          </a:solidFill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1E3A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Vision Classifier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MobileNet-v3-Large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INT8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2.38 ms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14.10 ms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9E0B"/>
                          </a:solidFill>
                        </a:defRPr>
                      </a:pPr>
                      <a:r>
                        <a:t>5.9x Faster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Speech (ASR)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Whisper-Small Multilingual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INT8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480.0 ms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1,820.0 ms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9E0B"/>
                          </a:solidFill>
                        </a:defRPr>
                      </a:pPr>
                      <a:r>
                        <a:t>3.8x Faster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Advisory (LLM)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Llama 3.2 3B Instruct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W4A16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28.5 tok/s (185ms TTFT)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7.2 tok/s (420ms TTFT)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9E0B"/>
                          </a:solidFill>
                        </a:defRPr>
                      </a:pPr>
                      <a:r>
                        <a:t>3.95x Faster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Retrieval Engine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all-MiniLM-L6-v2 + SQLite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FP32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0.17 ms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0.20 ms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9E0B"/>
                          </a:solidFill>
                        </a:defRPr>
                      </a:pPr>
                      <a:r>
                        <a:t>1.1x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Full Pipeline E2E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ASR + Vision + Ret + LLM + TTS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1.24 seconds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2.85 seconds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9E0B"/>
                          </a:solidFill>
                        </a:defRPr>
                      </a:pPr>
                      <a:r>
                        <a:t>2.3x Faster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AF69"/>
                </a:solidFill>
              </a:defRPr>
            </a:pPr>
            <a:r>
              <a:t>QUALCOMM SNAPDRAGON AI LAB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Agronomic Safety &amp; Anti-Hallucination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914400"/>
          </a:xfrm>
          <a:prstGeom prst="roundRect">
            <a:avLst/>
          </a:prstGeom>
          <a:solidFill>
            <a:srgbClr val="182A1F"/>
          </a:solidFill>
          <a:ln w="19050">
            <a:solidFill>
              <a:srgbClr val="2EAF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55648"/>
            <a:ext cx="10149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AF69"/>
                </a:solidFill>
              </a:defRPr>
            </a:pPr>
            <a:r>
              <a:t>🛡️ Layer 1: Grounding Prompt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LLM is strictly bound to ICAR context. It is forbidden from discussing unlisted chemicals or dosages.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728655" cy="914400"/>
          </a:xfrm>
          <a:prstGeom prst="roundRect">
            <a:avLst/>
          </a:prstGeom>
          <a:solidFill>
            <a:srgbClr val="182A1F"/>
          </a:solidFill>
          <a:ln w="19050">
            <a:solidFill>
              <a:srgbClr val="2EAF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10149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AF69"/>
                </a:solidFill>
              </a:defRPr>
            </a:pPr>
            <a:r>
              <a:t>🛡️ Layer 2: Regex Dosage Blocker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safety.py intercepts raw LLM output. Any chemical dose pattern not explicitly cited in knowledge base notes is stripped and replaced with '[खुराक के लिए कृषि अधिकारी से पूछें]'.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728655" cy="914400"/>
          </a:xfrm>
          <a:prstGeom prst="roundRect">
            <a:avLst/>
          </a:prstGeom>
          <a:solidFill>
            <a:srgbClr val="182A1F"/>
          </a:solidFill>
          <a:ln w="19050">
            <a:solidFill>
              <a:srgbClr val="2EAF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950208"/>
            <a:ext cx="10149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AF69"/>
                </a:solidFill>
              </a:defRPr>
            </a:pPr>
            <a:r>
              <a:t>🛡️ Layer 3: Mandatory KVK Disclaimer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Every single response programmatically appends: 'कृपया अपने स्थानीय कृषि विज्ञान केंद्र / कृषि अधिकारी से पुष्टि करें।'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59"/>
            <a:ext cx="10728655" cy="914400"/>
          </a:xfrm>
          <a:prstGeom prst="roundRect">
            <a:avLst/>
          </a:prstGeom>
          <a:solidFill>
            <a:srgbClr val="182A1F"/>
          </a:solidFill>
          <a:ln w="19050">
            <a:solidFill>
              <a:srgbClr val="2EAF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47487"/>
            <a:ext cx="10149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AF69"/>
                </a:solidFill>
              </a:defRPr>
            </a:pPr>
            <a:r>
              <a:t>🛡️ Layer 4: 40% Confidence Rejection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Out-of-distribution inputs (non-crop photos, blurred leaves) trigger rejection: 'मुझे पूरा भरोसा नहीं है', refusing to guess.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AF69"/>
                </a:solidFill>
              </a:defRPr>
            </a:pPr>
            <a:r>
              <a:t>QUALCOMM SNAPDRAGON AI LAB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Model Accuracy: Clean Lab vs Field-Style Generalisation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8229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AF69"/>
                          </a:solidFill>
                        </a:defRPr>
                      </a:pPr>
                      <a:r>
                        <a:t>Evaluation Dataset</a:t>
                      </a:r>
                    </a:p>
                  </a:txBody>
                  <a:tcPr>
                    <a:solidFill>
                      <a:srgbClr val="1E3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AF69"/>
                          </a:solidFill>
                        </a:defRPr>
                      </a:pPr>
                      <a:r>
                        <a:t>Nature of Images</a:t>
                      </a:r>
                    </a:p>
                  </a:txBody>
                  <a:tcPr>
                    <a:solidFill>
                      <a:srgbClr val="1E3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AF69"/>
                          </a:solidFill>
                        </a:defRPr>
                      </a:pPr>
                      <a:r>
                        <a:t>FP32 Top-1</a:t>
                      </a:r>
                    </a:p>
                  </a:txBody>
                  <a:tcPr>
                    <a:solidFill>
                      <a:srgbClr val="1E3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AF69"/>
                          </a:solidFill>
                        </a:defRPr>
                      </a:pPr>
                      <a:r>
                        <a:t>INT8 Quantized Top-1</a:t>
                      </a:r>
                    </a:p>
                  </a:txBody>
                  <a:tcPr>
                    <a:solidFill>
                      <a:srgbClr val="1E3A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AF69"/>
                          </a:solidFill>
                        </a:defRPr>
                      </a:pPr>
                      <a:r>
                        <a:t>INT8 Top-3</a:t>
                      </a:r>
                    </a:p>
                  </a:txBody>
                  <a:tcPr>
                    <a:solidFill>
                      <a:srgbClr val="1E3A2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PlantVillage (Baseline)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Clean uniform lab backgrounds, flat lighting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EAF69"/>
                          </a:solidFill>
                        </a:defRPr>
                      </a:pPr>
                      <a:r>
                        <a:t>91.4%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EAF69"/>
                          </a:solidFill>
                        </a:defRPr>
                      </a:pPr>
                      <a:r>
                        <a:t>90.8%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EAF69"/>
                          </a:solidFill>
                        </a:defRPr>
                      </a:pPr>
                      <a:r>
                        <a:t>97.6%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PlantDoc (Field-style)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Cluttered soil/hands, real outdoor lighting, blur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78.6%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77.8%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EAF69"/>
                          </a:solidFill>
                        </a:defRPr>
                      </a:pPr>
                      <a:r>
                        <a:t>91.9%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Out-of-Distribution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Non-crop imagery / low confidence (&lt; 40%)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EAF69"/>
                          </a:solidFill>
                        </a:defRPr>
                      </a:pPr>
                      <a:r>
                        <a:t>100.0% Rejected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EAF69"/>
                          </a:solidFill>
                        </a:defRPr>
                      </a:pPr>
                      <a:r>
                        <a:t>100.0% Rejected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182A1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30352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59E0B"/>
                </a:solidFill>
              </a:defRPr>
            </a:pPr>
            <a:r>
              <a:t>💡 Key Insight: Lab-only models collapse when deployed on real farms. By fine-tuning across 11 Indian crop diseases with outdoor clutter and enforcing a 40% confidence gate, AgriSense Edge delivers 91.9% Top-3 field accuracy with 0% false certainty.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AF69"/>
                </a:solidFill>
              </a:defRPr>
            </a:pPr>
            <a:r>
              <a:t>QUALCOMM SNAPDRAGON AI LAB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Roadmap &amp; Scaling to 140M Indian Farmers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438144" cy="4114800"/>
          </a:xfrm>
          <a:prstGeom prst="roundRect">
            <a:avLst/>
          </a:prstGeom>
          <a:solidFill>
            <a:srgbClr val="182A1F"/>
          </a:solidFill>
          <a:ln w="19050">
            <a:solidFill>
              <a:srgbClr val="2EAF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72384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2EAF69"/>
                </a:solidFill>
              </a:defRPr>
            </a:pPr>
            <a:r>
              <a:t>1. Agronomist Sign-Off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Formal validation partnership with Indian Council of Agricultural Research (ICAR) &amp; State Agricultural Universities to ratify treatment notes.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828800"/>
            <a:ext cx="3438144" cy="4114800"/>
          </a:xfrm>
          <a:prstGeom prst="roundRect">
            <a:avLst/>
          </a:prstGeom>
          <a:solidFill>
            <a:srgbClr val="182A1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2103120"/>
            <a:ext cx="3072384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59E0B"/>
                </a:solidFill>
              </a:defRPr>
            </a:pPr>
            <a:r>
              <a:t>2. Dialect Fine-Tuning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Expand Whisper ASR to regional Hindi dialects (Bhojpuri, Bundelkhandi, Malvi, Chhattisgarhi) collected via Krishi Vigyan Kendras.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828800"/>
            <a:ext cx="3438144" cy="4114800"/>
          </a:xfrm>
          <a:prstGeom prst="roundRect">
            <a:avLst/>
          </a:prstGeom>
          <a:solidFill>
            <a:srgbClr val="182A1F"/>
          </a:solidFill>
          <a:ln w="19050">
            <a:solidFill>
              <a:srgbClr val="E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3024" y="2103120"/>
            <a:ext cx="3072384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E02020"/>
                </a:solidFill>
              </a:defRPr>
            </a:pPr>
            <a:r>
              <a:t>3. Mobile Snapdragon App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Package ONNX/QNN runtime into native Android APK for Snapdragon mobile chipsets (Snapdragon 8 Gen 3/4) for field agents.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